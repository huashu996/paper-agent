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594360" y="384048"/>
            <a:ext cx="11000232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43"/>
                </a:solidFill>
                <a:latin typeface="Microsoft YaHei"/>
                <a:ea typeface="Microsoft YaHei"/>
              </a:rPr>
              <a:t>研究问题递进 / Research questions</a:t>
            </a:r>
          </a:p>
        </p:txBody>
      </p:sp>
      <p:sp>
        <p:nvSpPr>
          <p:cNvPr id="3" name="route_label"/>
          <p:cNvSpPr txBox="1"/>
          <p:nvPr/>
        </p:nvSpPr>
        <p:spPr>
          <a:xfrm>
            <a:off x="594360" y="950976"/>
            <a:ext cx="11000232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67A"/>
                </a:solidFill>
                <a:latin typeface="Microsoft YaHei"/>
                <a:ea typeface="Microsoft YaHei"/>
              </a:rPr>
              <a:t>叙述背景型 / Background narrative</a:t>
            </a:r>
          </a:p>
        </p:txBody>
      </p:sp>
      <p:sp>
        <p:nvSpPr>
          <p:cNvPr id="4" name="title_rule"/>
          <p:cNvSpPr/>
          <p:nvPr/>
        </p:nvSpPr>
        <p:spPr>
          <a:xfrm>
            <a:off x="594360" y="1417320"/>
            <a:ext cx="11000232" cy="13716"/>
          </a:xfrm>
          <a:prstGeom prst="rect">
            <a:avLst/>
          </a:prstGeom>
          <a:solidFill>
            <a:srgbClr val="D7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eneric_example_disclosure"/>
          <p:cNvSpPr txBox="1"/>
          <p:nvPr/>
        </p:nvSpPr>
        <p:spPr>
          <a:xfrm>
            <a:off x="594360" y="6373368"/>
            <a:ext cx="103327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67A"/>
                </a:solidFill>
                <a:latin typeface="Microsoft YaHei"/>
                <a:ea typeface="Microsoft YaHei"/>
              </a:rPr>
              <a:t>通用示意，非研究成果 / Generic illustration, not research results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10972800" y="6373368"/>
            <a:ext cx="62179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67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narrative_stage_1"/>
          <p:cNvSpPr/>
          <p:nvPr/>
        </p:nvSpPr>
        <p:spPr>
          <a:xfrm>
            <a:off x="594360" y="2423160"/>
            <a:ext cx="3282696" cy="118872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研究背景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Background</a:t>
            </a:r>
          </a:p>
        </p:txBody>
      </p:sp>
      <p:sp>
        <p:nvSpPr>
          <p:cNvPr id="8" name="stage_note_1"/>
          <p:cNvSpPr txBox="1"/>
          <p:nvPr/>
        </p:nvSpPr>
        <p:spPr>
          <a:xfrm>
            <a:off x="594360" y="4096512"/>
            <a:ext cx="3282696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67A"/>
                </a:solidFill>
                <a:latin typeface="Microsoft YaHei"/>
                <a:ea typeface="Microsoft YaHei"/>
              </a:rPr>
              <a:t>已知现象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67A"/>
                </a:solidFill>
                <a:latin typeface="Microsoft YaHei"/>
                <a:ea typeface="Microsoft YaHei"/>
              </a:rPr>
              <a:t>Known observations</a:t>
            </a:r>
          </a:p>
        </p:txBody>
      </p:sp>
      <p:sp>
        <p:nvSpPr>
          <p:cNvPr id="9" name="narrative_stage_2"/>
          <p:cNvSpPr/>
          <p:nvPr/>
        </p:nvSpPr>
        <p:spPr>
          <a:xfrm>
            <a:off x="4453128" y="2423160"/>
            <a:ext cx="3282696" cy="118872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现有局限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Limitations</a:t>
            </a:r>
          </a:p>
        </p:txBody>
      </p:sp>
      <p:sp>
        <p:nvSpPr>
          <p:cNvPr id="10" name="stage_note_2"/>
          <p:cNvSpPr txBox="1"/>
          <p:nvPr/>
        </p:nvSpPr>
        <p:spPr>
          <a:xfrm>
            <a:off x="4453128" y="4096512"/>
            <a:ext cx="3282696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67A"/>
                </a:solidFill>
                <a:latin typeface="Microsoft YaHei"/>
                <a:ea typeface="Microsoft YaHei"/>
              </a:rPr>
              <a:t>待解问题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67A"/>
                </a:solidFill>
                <a:latin typeface="Microsoft YaHei"/>
                <a:ea typeface="Microsoft YaHei"/>
              </a:rPr>
              <a:t>Open questions</a:t>
            </a:r>
          </a:p>
        </p:txBody>
      </p:sp>
      <p:sp>
        <p:nvSpPr>
          <p:cNvPr id="11" name="narrative_stage_3"/>
          <p:cNvSpPr/>
          <p:nvPr/>
        </p:nvSpPr>
        <p:spPr>
          <a:xfrm>
            <a:off x="8311896" y="2423160"/>
            <a:ext cx="3282696" cy="118872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研究目标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Objective</a:t>
            </a:r>
          </a:p>
        </p:txBody>
      </p:sp>
      <p:sp>
        <p:nvSpPr>
          <p:cNvPr id="12" name="stage_note_3"/>
          <p:cNvSpPr txBox="1"/>
          <p:nvPr/>
        </p:nvSpPr>
        <p:spPr>
          <a:xfrm>
            <a:off x="8311896" y="4096512"/>
            <a:ext cx="3282696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67A"/>
                </a:solidFill>
                <a:latin typeface="Microsoft YaHei"/>
                <a:ea typeface="Microsoft YaHei"/>
              </a:rPr>
              <a:t>验证范围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2667A"/>
                </a:solidFill>
                <a:latin typeface="Microsoft YaHei"/>
                <a:ea typeface="Microsoft YaHei"/>
              </a:rPr>
              <a:t>Validation scope</a:t>
            </a:r>
          </a:p>
        </p:txBody>
      </p:sp>
      <p:cxnSp>
        <p:nvCxnSpPr>
          <p:cNvPr id="13" name="background_to_limitations"/>
          <p:cNvCxnSpPr>
            <a:stCxn id="7" idx="3"/>
            <a:endCxn id="9" idx="1"/>
          </p:cNvCxnSpPr>
          <p:nvPr/>
        </p:nvCxnSpPr>
        <p:spPr>
          <a:xfrm>
            <a:off x="3877056" y="3017520"/>
            <a:ext cx="576072" cy="0"/>
          </a:xfrm>
          <a:prstGeom prst="line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mitations_to_objective"/>
          <p:cNvCxnSpPr>
            <a:stCxn id="9" idx="3"/>
            <a:endCxn id="11" idx="1"/>
          </p:cNvCxnSpPr>
          <p:nvPr/>
        </p:nvCxnSpPr>
        <p:spPr>
          <a:xfrm>
            <a:off x="7735824" y="3017520"/>
            <a:ext cx="576072" cy="0"/>
          </a:xfrm>
          <a:prstGeom prst="line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594360" y="384048"/>
            <a:ext cx="11000232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43"/>
                </a:solidFill>
                <a:latin typeface="Microsoft YaHei"/>
                <a:ea typeface="Microsoft YaHei"/>
              </a:rPr>
              <a:t>来源与目标 / Sources and objectives</a:t>
            </a:r>
          </a:p>
        </p:txBody>
      </p:sp>
      <p:sp>
        <p:nvSpPr>
          <p:cNvPr id="3" name="route_label"/>
          <p:cNvSpPr txBox="1"/>
          <p:nvPr/>
        </p:nvSpPr>
        <p:spPr>
          <a:xfrm>
            <a:off x="594360" y="950976"/>
            <a:ext cx="11000232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67A"/>
                </a:solidFill>
                <a:latin typeface="Microsoft YaHei"/>
                <a:ea typeface="Microsoft YaHei"/>
              </a:rPr>
              <a:t>叙述背景型 / Background narrative</a:t>
            </a:r>
          </a:p>
        </p:txBody>
      </p:sp>
      <p:sp>
        <p:nvSpPr>
          <p:cNvPr id="4" name="title_rule"/>
          <p:cNvSpPr/>
          <p:nvPr/>
        </p:nvSpPr>
        <p:spPr>
          <a:xfrm>
            <a:off x="594360" y="1417320"/>
            <a:ext cx="11000232" cy="13716"/>
          </a:xfrm>
          <a:prstGeom prst="rect">
            <a:avLst/>
          </a:prstGeom>
          <a:solidFill>
            <a:srgbClr val="D7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eneric_example_disclosure"/>
          <p:cNvSpPr txBox="1"/>
          <p:nvPr/>
        </p:nvSpPr>
        <p:spPr>
          <a:xfrm>
            <a:off x="594360" y="6373368"/>
            <a:ext cx="103327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67A"/>
                </a:solidFill>
                <a:latin typeface="Microsoft YaHei"/>
                <a:ea typeface="Microsoft YaHei"/>
              </a:rPr>
              <a:t>通用示意，非研究成果 / Generic illustration, not research results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10972800" y="6373368"/>
            <a:ext cx="62179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67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7" name="source_1"/>
          <p:cNvSpPr/>
          <p:nvPr/>
        </p:nvSpPr>
        <p:spPr>
          <a:xfrm>
            <a:off x="777240" y="1828800"/>
            <a:ext cx="2423160" cy="86868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资料A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Source A</a:t>
            </a:r>
          </a:p>
        </p:txBody>
      </p:sp>
      <p:sp>
        <p:nvSpPr>
          <p:cNvPr id="8" name="source_2"/>
          <p:cNvSpPr/>
          <p:nvPr/>
        </p:nvSpPr>
        <p:spPr>
          <a:xfrm>
            <a:off x="777240" y="3200400"/>
            <a:ext cx="2423160" cy="86868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资料B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Source B</a:t>
            </a:r>
          </a:p>
        </p:txBody>
      </p:sp>
      <p:sp>
        <p:nvSpPr>
          <p:cNvPr id="9" name="source_3"/>
          <p:cNvSpPr/>
          <p:nvPr/>
        </p:nvSpPr>
        <p:spPr>
          <a:xfrm>
            <a:off x="777240" y="4572000"/>
            <a:ext cx="2423160" cy="86868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资料C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Source C</a:t>
            </a:r>
          </a:p>
        </p:txBody>
      </p:sp>
      <p:sp>
        <p:nvSpPr>
          <p:cNvPr id="10" name="scope"/>
          <p:cNvSpPr/>
          <p:nvPr/>
        </p:nvSpPr>
        <p:spPr>
          <a:xfrm>
            <a:off x="4892040" y="3200400"/>
            <a:ext cx="2423160" cy="86868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研究范围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Study scope</a:t>
            </a:r>
          </a:p>
        </p:txBody>
      </p:sp>
      <p:sp>
        <p:nvSpPr>
          <p:cNvPr id="11" name="objective"/>
          <p:cNvSpPr/>
          <p:nvPr/>
        </p:nvSpPr>
        <p:spPr>
          <a:xfrm>
            <a:off x="9006840" y="3200400"/>
            <a:ext cx="2423160" cy="868680"/>
          </a:xfrm>
          <a:prstGeom prst="roundRect">
            <a:avLst>
              <a:gd name="adj" fmla="val 8000"/>
            </a:avLst>
          </a:prstGeom>
          <a:solidFill>
            <a:srgbClr val="FBF7EB"/>
          </a:solidFill>
          <a:ln w="15875">
            <a:solidFill>
              <a:srgbClr val="B18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研究目标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Objective</a:t>
            </a:r>
          </a:p>
        </p:txBody>
      </p:sp>
      <p:cxnSp>
        <p:nvCxnSpPr>
          <p:cNvPr id="12" name="source_1_to_scope"/>
          <p:cNvCxnSpPr>
            <a:stCxn id="7" idx="3"/>
            <a:endCxn id="10" idx="1"/>
          </p:cNvCxnSpPr>
          <p:nvPr/>
        </p:nvCxnSpPr>
        <p:spPr>
          <a:xfrm>
            <a:off x="3200400" y="2263140"/>
            <a:ext cx="1691640" cy="1371600"/>
          </a:xfrm>
          <a:prstGeom prst="bentConnector3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ource_2_to_scope"/>
          <p:cNvCxnSpPr>
            <a:stCxn id="8" idx="3"/>
            <a:endCxn id="10" idx="1"/>
          </p:cNvCxnSpPr>
          <p:nvPr/>
        </p:nvCxnSpPr>
        <p:spPr>
          <a:xfrm>
            <a:off x="3200400" y="3634740"/>
            <a:ext cx="1691640" cy="0"/>
          </a:xfrm>
          <a:prstGeom prst="line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ource_3_to_scope"/>
          <p:cNvCxnSpPr>
            <a:stCxn id="9" idx="3"/>
            <a:endCxn id="10" idx="1"/>
          </p:cNvCxnSpPr>
          <p:nvPr/>
        </p:nvCxnSpPr>
        <p:spPr>
          <a:xfrm flipV="1">
            <a:off x="3200400" y="3634740"/>
            <a:ext cx="1691640" cy="1371600"/>
          </a:xfrm>
          <a:prstGeom prst="bentConnector3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cope_to_objective"/>
          <p:cNvCxnSpPr>
            <a:stCxn id="10" idx="3"/>
            <a:endCxn id="11" idx="1"/>
          </p:cNvCxnSpPr>
          <p:nvPr/>
        </p:nvCxnSpPr>
        <p:spPr>
          <a:xfrm>
            <a:off x="7315200" y="3634740"/>
            <a:ext cx="1691640" cy="0"/>
          </a:xfrm>
          <a:prstGeom prst="line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594360" y="384048"/>
            <a:ext cx="11000232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43"/>
                </a:solidFill>
                <a:latin typeface="Microsoft YaHei"/>
                <a:ea typeface="Microsoft YaHei"/>
              </a:rPr>
              <a:t>单向处理管线 / Processing pipeline</a:t>
            </a:r>
          </a:p>
        </p:txBody>
      </p:sp>
      <p:sp>
        <p:nvSpPr>
          <p:cNvPr id="3" name="route_label"/>
          <p:cNvSpPr txBox="1"/>
          <p:nvPr/>
        </p:nvSpPr>
        <p:spPr>
          <a:xfrm>
            <a:off x="594360" y="950976"/>
            <a:ext cx="11000232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67A"/>
                </a:solidFill>
                <a:latin typeface="Microsoft YaHei"/>
                <a:ea typeface="Microsoft YaHei"/>
              </a:rPr>
              <a:t>方法逻辑型 / Method logic</a:t>
            </a:r>
          </a:p>
        </p:txBody>
      </p:sp>
      <p:sp>
        <p:nvSpPr>
          <p:cNvPr id="4" name="title_rule"/>
          <p:cNvSpPr/>
          <p:nvPr/>
        </p:nvSpPr>
        <p:spPr>
          <a:xfrm>
            <a:off x="594360" y="1417320"/>
            <a:ext cx="11000232" cy="13716"/>
          </a:xfrm>
          <a:prstGeom prst="rect">
            <a:avLst/>
          </a:prstGeom>
          <a:solidFill>
            <a:srgbClr val="D7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eneric_example_disclosure"/>
          <p:cNvSpPr txBox="1"/>
          <p:nvPr/>
        </p:nvSpPr>
        <p:spPr>
          <a:xfrm>
            <a:off x="594360" y="6373368"/>
            <a:ext cx="103327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67A"/>
                </a:solidFill>
                <a:latin typeface="Microsoft YaHei"/>
                <a:ea typeface="Microsoft YaHei"/>
              </a:rPr>
              <a:t>通用示意，非研究成果 / Generic illustration, not research results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10972800" y="6373368"/>
            <a:ext cx="62179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67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7" name="pipeline_node_0"/>
          <p:cNvSpPr/>
          <p:nvPr/>
        </p:nvSpPr>
        <p:spPr>
          <a:xfrm>
            <a:off x="594360" y="274320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输入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Input</a:t>
            </a:r>
          </a:p>
        </p:txBody>
      </p:sp>
      <p:sp>
        <p:nvSpPr>
          <p:cNvPr id="8" name="pipeline_node_1"/>
          <p:cNvSpPr/>
          <p:nvPr/>
        </p:nvSpPr>
        <p:spPr>
          <a:xfrm>
            <a:off x="2834640" y="274320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预处理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Preprocess</a:t>
            </a:r>
          </a:p>
        </p:txBody>
      </p:sp>
      <p:sp>
        <p:nvSpPr>
          <p:cNvPr id="9" name="pipeline_node_2"/>
          <p:cNvSpPr/>
          <p:nvPr/>
        </p:nvSpPr>
        <p:spPr>
          <a:xfrm>
            <a:off x="5074920" y="274320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模块A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Module A</a:t>
            </a:r>
          </a:p>
        </p:txBody>
      </p:sp>
      <p:sp>
        <p:nvSpPr>
          <p:cNvPr id="10" name="pipeline_node_3"/>
          <p:cNvSpPr/>
          <p:nvPr/>
        </p:nvSpPr>
        <p:spPr>
          <a:xfrm>
            <a:off x="7315200" y="274320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模块B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Module B</a:t>
            </a:r>
          </a:p>
        </p:txBody>
      </p:sp>
      <p:sp>
        <p:nvSpPr>
          <p:cNvPr id="11" name="pipeline_node_4"/>
          <p:cNvSpPr/>
          <p:nvPr/>
        </p:nvSpPr>
        <p:spPr>
          <a:xfrm>
            <a:off x="9555480" y="274320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输出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Output</a:t>
            </a:r>
          </a:p>
        </p:txBody>
      </p:sp>
      <p:cxnSp>
        <p:nvCxnSpPr>
          <p:cNvPr id="12" name="pipeline_edge_0"/>
          <p:cNvCxnSpPr>
            <a:stCxn id="7" idx="3"/>
            <a:endCxn id="8" idx="1"/>
          </p:cNvCxnSpPr>
          <p:nvPr/>
        </p:nvCxnSpPr>
        <p:spPr>
          <a:xfrm>
            <a:off x="2606040" y="3268980"/>
            <a:ext cx="228600" cy="0"/>
          </a:xfrm>
          <a:prstGeom prst="line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pipeline_edge_1"/>
          <p:cNvCxnSpPr>
            <a:stCxn id="8" idx="3"/>
            <a:endCxn id="9" idx="1"/>
          </p:cNvCxnSpPr>
          <p:nvPr/>
        </p:nvCxnSpPr>
        <p:spPr>
          <a:xfrm>
            <a:off x="4846320" y="3268980"/>
            <a:ext cx="228600" cy="0"/>
          </a:xfrm>
          <a:prstGeom prst="line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pipeline_edge_2"/>
          <p:cNvCxnSpPr>
            <a:stCxn id="9" idx="3"/>
            <a:endCxn id="10" idx="1"/>
          </p:cNvCxnSpPr>
          <p:nvPr/>
        </p:nvCxnSpPr>
        <p:spPr>
          <a:xfrm>
            <a:off x="7086600" y="3268980"/>
            <a:ext cx="228600" cy="0"/>
          </a:xfrm>
          <a:prstGeom prst="line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pipeline_edge_3"/>
          <p:cNvCxnSpPr>
            <a:stCxn id="10" idx="3"/>
            <a:endCxn id="11" idx="1"/>
          </p:cNvCxnSpPr>
          <p:nvPr/>
        </p:nvCxnSpPr>
        <p:spPr>
          <a:xfrm>
            <a:off x="9326880" y="3268980"/>
            <a:ext cx="228600" cy="0"/>
          </a:xfrm>
          <a:prstGeom prst="line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valuation"/>
          <p:cNvSpPr/>
          <p:nvPr/>
        </p:nvSpPr>
        <p:spPr>
          <a:xfrm>
            <a:off x="9555480" y="466344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FBF7EB"/>
          </a:solidFill>
          <a:ln w="15875">
            <a:solidFill>
              <a:srgbClr val="B18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评估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Evaluation</a:t>
            </a:r>
          </a:p>
        </p:txBody>
      </p:sp>
      <p:cxnSp>
        <p:nvCxnSpPr>
          <p:cNvPr id="17" name="output_to_evaluation"/>
          <p:cNvCxnSpPr>
            <a:stCxn id="11" idx="2"/>
            <a:endCxn id="16" idx="0"/>
          </p:cNvCxnSpPr>
          <p:nvPr/>
        </p:nvCxnSpPr>
        <p:spPr>
          <a:xfrm>
            <a:off x="10561320" y="3794760"/>
            <a:ext cx="0" cy="868680"/>
          </a:xfrm>
          <a:prstGeom prst="line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594360" y="384048"/>
            <a:ext cx="11000232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43"/>
                </a:solidFill>
                <a:latin typeface="Microsoft YaHei"/>
                <a:ea typeface="Microsoft YaHei"/>
              </a:rPr>
              <a:t>多分支汇聚 / Branch fusion</a:t>
            </a:r>
          </a:p>
        </p:txBody>
      </p:sp>
      <p:sp>
        <p:nvSpPr>
          <p:cNvPr id="3" name="route_label"/>
          <p:cNvSpPr txBox="1"/>
          <p:nvPr/>
        </p:nvSpPr>
        <p:spPr>
          <a:xfrm>
            <a:off x="594360" y="950976"/>
            <a:ext cx="11000232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67A"/>
                </a:solidFill>
                <a:latin typeface="Microsoft YaHei"/>
                <a:ea typeface="Microsoft YaHei"/>
              </a:rPr>
              <a:t>方法逻辑型 / Method logic</a:t>
            </a:r>
          </a:p>
        </p:txBody>
      </p:sp>
      <p:sp>
        <p:nvSpPr>
          <p:cNvPr id="4" name="title_rule"/>
          <p:cNvSpPr/>
          <p:nvPr/>
        </p:nvSpPr>
        <p:spPr>
          <a:xfrm>
            <a:off x="594360" y="1417320"/>
            <a:ext cx="11000232" cy="13716"/>
          </a:xfrm>
          <a:prstGeom prst="rect">
            <a:avLst/>
          </a:prstGeom>
          <a:solidFill>
            <a:srgbClr val="D7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eneric_example_disclosure"/>
          <p:cNvSpPr txBox="1"/>
          <p:nvPr/>
        </p:nvSpPr>
        <p:spPr>
          <a:xfrm>
            <a:off x="594360" y="6373368"/>
            <a:ext cx="103327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67A"/>
                </a:solidFill>
                <a:latin typeface="Microsoft YaHei"/>
                <a:ea typeface="Microsoft YaHei"/>
              </a:rPr>
              <a:t>通用示意，非研究成果 / Generic illustration, not research results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10972800" y="6373368"/>
            <a:ext cx="62179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67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7" name="input"/>
          <p:cNvSpPr/>
          <p:nvPr/>
        </p:nvSpPr>
        <p:spPr>
          <a:xfrm>
            <a:off x="594360" y="301752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输入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Input</a:t>
            </a:r>
          </a:p>
        </p:txBody>
      </p:sp>
      <p:sp>
        <p:nvSpPr>
          <p:cNvPr id="8" name="branch_A"/>
          <p:cNvSpPr/>
          <p:nvPr/>
        </p:nvSpPr>
        <p:spPr>
          <a:xfrm>
            <a:off x="3794760" y="1691640"/>
            <a:ext cx="2423160" cy="96012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模块A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Module A</a:t>
            </a:r>
          </a:p>
        </p:txBody>
      </p:sp>
      <p:sp>
        <p:nvSpPr>
          <p:cNvPr id="9" name="branch_B"/>
          <p:cNvSpPr/>
          <p:nvPr/>
        </p:nvSpPr>
        <p:spPr>
          <a:xfrm>
            <a:off x="3794760" y="3017520"/>
            <a:ext cx="2423160" cy="96012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模块B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Module B</a:t>
            </a:r>
          </a:p>
        </p:txBody>
      </p:sp>
      <p:sp>
        <p:nvSpPr>
          <p:cNvPr id="10" name="branch_C"/>
          <p:cNvSpPr/>
          <p:nvPr/>
        </p:nvSpPr>
        <p:spPr>
          <a:xfrm>
            <a:off x="3794760" y="4343400"/>
            <a:ext cx="2423160" cy="96012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模块C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Module C</a:t>
            </a:r>
          </a:p>
        </p:txBody>
      </p:sp>
      <p:sp>
        <p:nvSpPr>
          <p:cNvPr id="11" name="fusion"/>
          <p:cNvSpPr/>
          <p:nvPr/>
        </p:nvSpPr>
        <p:spPr>
          <a:xfrm>
            <a:off x="7726679" y="301752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融合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Fusion</a:t>
            </a:r>
          </a:p>
        </p:txBody>
      </p:sp>
      <p:sp>
        <p:nvSpPr>
          <p:cNvPr id="12" name="output"/>
          <p:cNvSpPr/>
          <p:nvPr/>
        </p:nvSpPr>
        <p:spPr>
          <a:xfrm>
            <a:off x="9921240" y="3017520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输出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Output</a:t>
            </a:r>
          </a:p>
        </p:txBody>
      </p:sp>
      <p:cxnSp>
        <p:nvCxnSpPr>
          <p:cNvPr id="13" name="input_to_branch_0"/>
          <p:cNvCxnSpPr>
            <a:stCxn id="7" idx="3"/>
            <a:endCxn id="8" idx="1"/>
          </p:cNvCxnSpPr>
          <p:nvPr/>
        </p:nvCxnSpPr>
        <p:spPr>
          <a:xfrm flipV="1">
            <a:off x="2286000" y="2171700"/>
            <a:ext cx="1508760" cy="1325880"/>
          </a:xfrm>
          <a:prstGeom prst="bentConnector3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branch_0_to_fusion"/>
          <p:cNvCxnSpPr>
            <a:stCxn id="8" idx="3"/>
            <a:endCxn id="11" idx="1"/>
          </p:cNvCxnSpPr>
          <p:nvPr/>
        </p:nvCxnSpPr>
        <p:spPr>
          <a:xfrm>
            <a:off x="6217920" y="2171700"/>
            <a:ext cx="1508759" cy="1325880"/>
          </a:xfrm>
          <a:prstGeom prst="bentConnector3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input_to_branch_1"/>
          <p:cNvCxnSpPr>
            <a:stCxn id="7" idx="3"/>
            <a:endCxn id="9" idx="1"/>
          </p:cNvCxnSpPr>
          <p:nvPr/>
        </p:nvCxnSpPr>
        <p:spPr>
          <a:xfrm>
            <a:off x="2286000" y="3497580"/>
            <a:ext cx="1508760" cy="0"/>
          </a:xfrm>
          <a:prstGeom prst="line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branch_1_to_fusion"/>
          <p:cNvCxnSpPr>
            <a:stCxn id="9" idx="3"/>
            <a:endCxn id="11" idx="1"/>
          </p:cNvCxnSpPr>
          <p:nvPr/>
        </p:nvCxnSpPr>
        <p:spPr>
          <a:xfrm>
            <a:off x="6217920" y="3497580"/>
            <a:ext cx="1508759" cy="0"/>
          </a:xfrm>
          <a:prstGeom prst="line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input_to_branch_2"/>
          <p:cNvCxnSpPr>
            <a:stCxn id="7" idx="3"/>
            <a:endCxn id="10" idx="1"/>
          </p:cNvCxnSpPr>
          <p:nvPr/>
        </p:nvCxnSpPr>
        <p:spPr>
          <a:xfrm>
            <a:off x="2286000" y="3497580"/>
            <a:ext cx="1508760" cy="1325880"/>
          </a:xfrm>
          <a:prstGeom prst="bentConnector3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branch_2_to_fusion"/>
          <p:cNvCxnSpPr>
            <a:stCxn id="10" idx="3"/>
            <a:endCxn id="11" idx="1"/>
          </p:cNvCxnSpPr>
          <p:nvPr/>
        </p:nvCxnSpPr>
        <p:spPr>
          <a:xfrm flipV="1">
            <a:off x="6217920" y="3497580"/>
            <a:ext cx="1508759" cy="1325880"/>
          </a:xfrm>
          <a:prstGeom prst="bentConnector3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usion_to_output"/>
          <p:cNvCxnSpPr>
            <a:stCxn id="11" idx="3"/>
            <a:endCxn id="12" idx="1"/>
          </p:cNvCxnSpPr>
          <p:nvPr/>
        </p:nvCxnSpPr>
        <p:spPr>
          <a:xfrm>
            <a:off x="9418319" y="3497580"/>
            <a:ext cx="502921" cy="0"/>
          </a:xfrm>
          <a:prstGeom prst="line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594360" y="384048"/>
            <a:ext cx="11000232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42B43"/>
                </a:solidFill>
                <a:latin typeface="Microsoft YaHei"/>
                <a:ea typeface="Microsoft YaHei"/>
              </a:rPr>
              <a:t>局部与全局 / Local and global</a:t>
            </a:r>
          </a:p>
        </p:txBody>
      </p:sp>
      <p:sp>
        <p:nvSpPr>
          <p:cNvPr id="3" name="route_label"/>
          <p:cNvSpPr txBox="1"/>
          <p:nvPr/>
        </p:nvSpPr>
        <p:spPr>
          <a:xfrm>
            <a:off x="594360" y="950976"/>
            <a:ext cx="11000232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67A"/>
                </a:solidFill>
                <a:latin typeface="Microsoft YaHei"/>
                <a:ea typeface="Microsoft YaHei"/>
              </a:rPr>
              <a:t>方法逻辑型 / Method logic</a:t>
            </a:r>
          </a:p>
        </p:txBody>
      </p:sp>
      <p:sp>
        <p:nvSpPr>
          <p:cNvPr id="4" name="title_rule"/>
          <p:cNvSpPr/>
          <p:nvPr/>
        </p:nvSpPr>
        <p:spPr>
          <a:xfrm>
            <a:off x="594360" y="1417320"/>
            <a:ext cx="11000232" cy="13716"/>
          </a:xfrm>
          <a:prstGeom prst="rect">
            <a:avLst/>
          </a:prstGeom>
          <a:solidFill>
            <a:srgbClr val="D7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eneric_example_disclosure"/>
          <p:cNvSpPr txBox="1"/>
          <p:nvPr/>
        </p:nvSpPr>
        <p:spPr>
          <a:xfrm>
            <a:off x="594360" y="6373368"/>
            <a:ext cx="103327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67A"/>
                </a:solidFill>
                <a:latin typeface="Microsoft YaHei"/>
                <a:ea typeface="Microsoft YaHei"/>
              </a:rPr>
              <a:t>通用示意，非研究成果 / Generic illustration, not research results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10972800" y="6373368"/>
            <a:ext cx="62179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67A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7" name="local_panel"/>
          <p:cNvSpPr/>
          <p:nvPr/>
        </p:nvSpPr>
        <p:spPr>
          <a:xfrm>
            <a:off x="594360" y="1783080"/>
            <a:ext cx="470916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7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lobal_panel"/>
          <p:cNvSpPr/>
          <p:nvPr/>
        </p:nvSpPr>
        <p:spPr>
          <a:xfrm>
            <a:off x="6903720" y="1783080"/>
            <a:ext cx="470916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7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cal_heading"/>
          <p:cNvSpPr txBox="1"/>
          <p:nvPr/>
        </p:nvSpPr>
        <p:spPr>
          <a:xfrm>
            <a:off x="914400" y="1993392"/>
            <a:ext cx="40690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2B43"/>
                </a:solidFill>
                <a:latin typeface="Microsoft YaHei"/>
                <a:ea typeface="Microsoft YaHei"/>
              </a:rPr>
              <a:t>局部 / Local</a:t>
            </a:r>
          </a:p>
        </p:txBody>
      </p:sp>
      <p:sp>
        <p:nvSpPr>
          <p:cNvPr id="10" name="global_heading"/>
          <p:cNvSpPr txBox="1"/>
          <p:nvPr/>
        </p:nvSpPr>
        <p:spPr>
          <a:xfrm>
            <a:off x="7223760" y="1993392"/>
            <a:ext cx="40690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2B43"/>
                </a:solidFill>
                <a:latin typeface="Microsoft YaHei"/>
                <a:ea typeface="Microsoft YaHei"/>
              </a:rPr>
              <a:t>全局 / Global</a:t>
            </a:r>
          </a:p>
        </p:txBody>
      </p:sp>
      <p:sp>
        <p:nvSpPr>
          <p:cNvPr id="11" name="local_input"/>
          <p:cNvSpPr/>
          <p:nvPr/>
        </p:nvSpPr>
        <p:spPr>
          <a:xfrm>
            <a:off x="1143000" y="269748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输入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Input</a:t>
            </a:r>
          </a:p>
        </p:txBody>
      </p:sp>
      <p:sp>
        <p:nvSpPr>
          <p:cNvPr id="12" name="local_update"/>
          <p:cNvSpPr/>
          <p:nvPr/>
        </p:nvSpPr>
        <p:spPr>
          <a:xfrm>
            <a:off x="1143000" y="425196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局部更新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Local update</a:t>
            </a:r>
          </a:p>
        </p:txBody>
      </p:sp>
      <p:sp>
        <p:nvSpPr>
          <p:cNvPr id="13" name="global_fusion"/>
          <p:cNvSpPr/>
          <p:nvPr/>
        </p:nvSpPr>
        <p:spPr>
          <a:xfrm>
            <a:off x="7452360" y="269748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全局融合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Global fusion</a:t>
            </a:r>
          </a:p>
        </p:txBody>
      </p:sp>
      <p:sp>
        <p:nvSpPr>
          <p:cNvPr id="14" name="global_output"/>
          <p:cNvSpPr/>
          <p:nvPr/>
        </p:nvSpPr>
        <p:spPr>
          <a:xfrm>
            <a:off x="7452360" y="4251960"/>
            <a:ext cx="3611880" cy="868680"/>
          </a:xfrm>
          <a:prstGeom prst="roundRect">
            <a:avLst>
              <a:gd name="adj" fmla="val 8000"/>
            </a:avLst>
          </a:prstGeom>
          <a:solidFill>
            <a:srgbClr val="EDF7F4"/>
          </a:solidFill>
          <a:ln w="15875">
            <a:solidFill>
              <a:srgbClr val="147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B43"/>
                </a:solidFill>
                <a:latin typeface="Microsoft YaHei"/>
                <a:ea typeface="Microsoft YaHei"/>
              </a:rPr>
              <a:t>输出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B43"/>
                </a:solidFill>
                <a:latin typeface="Microsoft YaHei"/>
                <a:ea typeface="Microsoft YaHei"/>
              </a:rPr>
              <a:t>Output</a:t>
            </a:r>
          </a:p>
        </p:txBody>
      </p:sp>
      <p:cxnSp>
        <p:nvCxnSpPr>
          <p:cNvPr id="15" name="input_to_local_update"/>
          <p:cNvCxnSpPr>
            <a:stCxn id="11" idx="2"/>
            <a:endCxn id="12" idx="0"/>
          </p:cNvCxnSpPr>
          <p:nvPr/>
        </p:nvCxnSpPr>
        <p:spPr>
          <a:xfrm>
            <a:off x="2948940" y="3566160"/>
            <a:ext cx="0" cy="685800"/>
          </a:xfrm>
          <a:prstGeom prst="line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cal_update_to_global_fusion"/>
          <p:cNvCxnSpPr>
            <a:stCxn id="12" idx="3"/>
            <a:endCxn id="13" idx="1"/>
          </p:cNvCxnSpPr>
          <p:nvPr/>
        </p:nvCxnSpPr>
        <p:spPr>
          <a:xfrm flipV="1">
            <a:off x="4754880" y="3131820"/>
            <a:ext cx="2697480" cy="1554480"/>
          </a:xfrm>
          <a:prstGeom prst="bentConnector3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lobal_fusion_to_output"/>
          <p:cNvCxnSpPr>
            <a:stCxn id="13" idx="2"/>
            <a:endCxn id="14" idx="0"/>
          </p:cNvCxnSpPr>
          <p:nvPr/>
        </p:nvCxnSpPr>
        <p:spPr>
          <a:xfrm>
            <a:off x="9258300" y="3566160"/>
            <a:ext cx="0" cy="685800"/>
          </a:xfrm>
          <a:prstGeom prst="line">
            <a:avLst/>
          </a:prstGeom>
          <a:ln w="15875">
            <a:solidFill>
              <a:srgbClr val="147D7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Agent: Generic Figure Style Template</dc:title>
  <dc:subject>Five editable academic diagram layouts</dc:subject>
  <dc:creator>Paper Agent contributors</dc:creator>
  <cp:keywords>generic, editable, academic diagrams, template</cp:keywords>
  <dc:description>Created from scratch. Generic illustrations only; no research results.</dc:description>
  <cp:lastModifiedBy>Paper Agent contributors</cp:lastModifiedBy>
  <cp:revision>1</cp:revision>
  <dcterms:created xsi:type="dcterms:W3CDTF">2026-01-01T00:00:00Z</dcterms:created>
  <dcterms:modified xsi:type="dcterms:W3CDTF">2026-01-01T00:00:00Z</dcterms:modified>
  <cp:category>Public documentation template</cp:category>
  <dc:language>en-US</dc:language>
  <dc:identifier>paper-agent-generic-style-template</dc:identifier>
  <cp:version>1.0</cp:version>
</cp:coreProperties>
</file>